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愿意尝试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A8A7"/>
              </a:solidFill>
              <a:effectLst/>
            </c:spPr>
          </c:dPt>
          <c:dLbls>
            <c:dLbl>
              <c:idx val="0"/>
              <c:numFmt formatCode="0.0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.0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愿意尝试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78.6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提及率</c:v>
                </c:pt>
              </c:strCache>
            </c:strRef>
          </c:tx>
          <c:spPr>
            <a:solidFill>
              <a:srgbClr val="5EA8A7"/>
            </a:solidFill>
            <a:effectLst/>
          </c:spPr>
          <c:invertIfNegative val="0"/>
          <c:dLbls>
            <c:numFmt formatCode="0.0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口感好</c:v>
                  </c:pt>
                  <c:pt idx="1">
                    <c:v>社交/聚会</c:v>
                  </c:pt>
                  <c:pt idx="2">
                    <c:v>健身/减肥</c:v>
                  </c:pt>
                  <c:pt idx="3">
                    <c:v>好奇尝鲜</c:v>
                  </c:pt>
                  <c:pt idx="4">
                    <c:v>替代传统啤酒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50.7</c:v>
                </c:pt>
                <c:pt idx="1">
                  <c:v>11.1</c:v>
                </c:pt>
                <c:pt idx="2">
                  <c:v>9</c:v>
                </c:pt>
                <c:pt idx="3">
                  <c:v>8.3</c:v>
                </c:pt>
                <c:pt idx="4">
                  <c:v>6.5</c:v>
                </c:pt>
              </c:numCache>
            </c:numRef>
          </c:val>
        </c:ser>
        <c:dLbls>
          <c:numFmt formatCode="0.0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提及率</c:v>
                </c:pt>
              </c:strCache>
            </c:strRef>
          </c:tx>
          <c:spPr>
            <a:solidFill>
              <a:srgbClr val="FE4447"/>
            </a:solidFill>
            <a:effectLst/>
          </c:spPr>
          <c:invertIfNegative val="0"/>
          <c:dLbls>
            <c:numFmt formatCode="0.0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口感不好</c:v>
                  </c:pt>
                  <c:pt idx="1">
                    <c:v>失望体验</c:v>
                  </c:pt>
                  <c:pt idx="2">
                    <c:v>价格/性价比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48.3</c:v>
                </c:pt>
                <c:pt idx="1">
                  <c:v>32.3</c:v>
                </c:pt>
                <c:pt idx="2">
                  <c:v>10.5</c:v>
                </c:pt>
              </c:numCache>
            </c:numRef>
          </c:val>
        </c:ser>
        <c:dLbls>
          <c:numFmt formatCode="0.0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提及次数</c:v>
                </c:pt>
              </c:strCache>
            </c:strRef>
          </c:tx>
          <c:spPr>
            <a:solidFill>
              <a:srgbClr val="5EA8A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聚会</c:v>
                  </c:pt>
                  <c:pt idx="1">
                    <c:v>开车</c:v>
                  </c:pt>
                  <c:pt idx="2">
                    <c:v>健身</c:v>
                  </c:pt>
                  <c:pt idx="3">
                    <c:v>夏天</c:v>
                  </c:pt>
                  <c:pt idx="4">
                    <c:v>宵夜</c:v>
                  </c:pt>
                  <c:pt idx="5">
                    <c:v>火锅</c:v>
                  </c:pt>
                  <c:pt idx="6">
                    <c:v>居家</c:v>
                  </c:pt>
                  <c:pt idx="7">
                    <c:v>减肥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49</c:v>
                </c:pt>
                <c:pt idx="2">
                  <c:v>39</c:v>
                </c:pt>
                <c:pt idx="3">
                  <c:v>35</c:v>
                </c:pt>
                <c:pt idx="4">
                  <c:v>32</c:v>
                </c:pt>
                <c:pt idx="5">
                  <c:v>28</c:v>
                </c:pt>
                <c:pt idx="6">
                  <c:v>24</c:v>
                </c:pt>
                <c:pt idx="7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694" y="902791"/>
            <a:ext cx="4896612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无醇啤酒消费者意愿</a:t>
            </a:r>
            <a:endParaRPr lang="en-US" sz="4200" dirty="0"/>
          </a:p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与场景语义分析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619500" y="2670572"/>
            <a:ext cx="1905000" cy="5075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23694" y="3102322"/>
            <a:ext cx="489661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基于小红书平台用户评论数据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23694" y="3386882"/>
            <a:ext cx="489661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数据来源：小红书搜索"无醇啤酒"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23694" y="3671441"/>
            <a:ext cx="489661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样本量：100条笔记，2,011条评论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23694" y="3956000"/>
            <a:ext cx="489661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分析时间：2026年1月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15901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6180" y="1114276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58801" y="1085701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数据概览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1523702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6180" y="1622078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8801" y="1593503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核心发现：消费者意愿分析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2031504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6180" y="2129879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8801" y="2101304"/>
            <a:ext cx="1864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愿意尝试的原因TOP5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2539305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6180" y="2637681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8801" y="2609106"/>
            <a:ext cx="2058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不愿意尝试的原因TOP3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3047107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6180" y="3145482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8801" y="3116907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场景适配性分析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3554909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6180" y="3653284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8801" y="3624709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用户画像：四大用户类型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2000" y="4062710"/>
            <a:ext cx="406301" cy="4063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6180" y="4161086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8801" y="4132511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关键洞察与建议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326425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数据概览：分析基础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79450"/>
            <a:ext cx="38863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763" y="1517600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526" y="1517600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1742926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1763" y="2184202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2184202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搜索关键词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2526" y="2409527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"无醇啤酒"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1763" y="2850803"/>
            <a:ext cx="0" cy="492026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526" y="2850803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采集时间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2526" y="3076129"/>
            <a:ext cx="37082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1763" y="3469779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526" y="3469779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时间跨度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526" y="3695105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约3.8年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25901" y="1079450"/>
            <a:ext cx="38863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样本规模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9713" y="1517600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0476" y="1517600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笔记数量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0476" y="1742926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100条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49713" y="2184202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0476" y="2184202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评论数量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0476" y="2409527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2,011条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9713" y="2850803"/>
            <a:ext cx="0" cy="5396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0476" y="2850803"/>
            <a:ext cx="3708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有效分析样本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00476" y="3076129"/>
            <a:ext cx="37082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1,997条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25901" y="3517404"/>
            <a:ext cx="3810149" cy="1127671"/>
          </a:xfrm>
          <a:prstGeom prst="roundRect">
            <a:avLst>
              <a:gd name="adj" fmla="val 675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8301" y="3669804"/>
            <a:ext cx="357545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笔记平均点赞：733.8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8301" y="3944094"/>
            <a:ext cx="357545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笔记平均收藏：250.4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8301" y="4218384"/>
            <a:ext cx="357545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评论平均点赞：8.6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43522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核心发现：消费者意愿分析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74887" y="2352526"/>
            <a:ext cx="1913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[饼图：消费者意愿分布]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87799" y="1079450"/>
            <a:ext cx="388635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787799" y="1679525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愿意尝试无醇啤酒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87799" y="2060525"/>
            <a:ext cx="388635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87799" y="2660600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不愿意尝试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5901" y="3168551"/>
            <a:ext cx="3810149" cy="1080492"/>
          </a:xfrm>
          <a:prstGeom prst="roundRect">
            <a:avLst>
              <a:gd name="adj" fmla="val 70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78301" y="3320951"/>
            <a:ext cx="35754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78301" y="3670102"/>
            <a:ext cx="35754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大部分消费者持开放态度，市场基础良好。提升产品体验是转化观望者的关键。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371600"/>
          <a:ext cx="3200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34795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愿意尝试的原因TOP5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8336" y="2543026"/>
            <a:ext cx="24575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[横向条形图：愿意尝试的原因]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5901" y="1219349"/>
            <a:ext cx="3810149" cy="966639"/>
          </a:xfrm>
          <a:prstGeom prst="roundRect">
            <a:avLst>
              <a:gd name="adj" fmla="val 52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49713" y="1219349"/>
            <a:ext cx="0" cy="966639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5926" y="1346299"/>
            <a:ext cx="3526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NO.1 口感好 - 50.7%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5926" y="1597075"/>
            <a:ext cx="352687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产品体验是核心驱动力，消费者重视真实啤酒口感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5901" y="2338388"/>
            <a:ext cx="3810149" cy="735657"/>
          </a:xfrm>
          <a:prstGeom prst="roundRect">
            <a:avLst>
              <a:gd name="adj" fmla="val 69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49713" y="2338388"/>
            <a:ext cx="0" cy="735657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5926" y="2465338"/>
            <a:ext cx="3526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NO.2 社交/聚会 - 11.1%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5926" y="2716113"/>
            <a:ext cx="35268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无醇啤酒满足社交场景需求，不破坏聚会氛围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5901" y="3226445"/>
            <a:ext cx="3810149" cy="735657"/>
          </a:xfrm>
          <a:prstGeom prst="roundRect">
            <a:avLst>
              <a:gd name="adj" fmla="val 69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49713" y="3226445"/>
            <a:ext cx="0" cy="735657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5926" y="3353395"/>
            <a:ext cx="3526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NO.3 健身/减肥 - 9.0%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5926" y="3604171"/>
            <a:ext cx="35268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健康意识驱动，无醇成为健身人群理想选择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11887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38421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不愿意尝试的原因TOP3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11610" y="2362051"/>
            <a:ext cx="245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[横向条形图：不愿意尝试的原因]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25901" y="1079450"/>
            <a:ext cx="3810149" cy="859482"/>
          </a:xfrm>
          <a:prstGeom prst="roundRect">
            <a:avLst>
              <a:gd name="adj" fmla="val 591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49713" y="1079450"/>
            <a:ext cx="0" cy="859482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00476" y="1180951"/>
            <a:ext cx="3578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NO.1 口感不好 - 48.3%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00476" y="1441252"/>
            <a:ext cx="357879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产品体验不佳是最大障碍，消费者期望与实际存在差距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901" y="2065883"/>
            <a:ext cx="3810149" cy="661392"/>
          </a:xfrm>
          <a:prstGeom prst="roundRect">
            <a:avLst>
              <a:gd name="adj" fmla="val 768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49713" y="2065883"/>
            <a:ext cx="0" cy="661392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0476" y="2167384"/>
            <a:ext cx="3578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NO.2 失望体验 - 32.3%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00476" y="2427684"/>
            <a:ext cx="357879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首次尝试不满意导致复购意愿低，口碑传播负面影响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5901" y="2854226"/>
            <a:ext cx="3810149" cy="661392"/>
          </a:xfrm>
          <a:prstGeom prst="roundRect">
            <a:avLst>
              <a:gd name="adj" fmla="val 768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49713" y="2854226"/>
            <a:ext cx="0" cy="661392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0476" y="2955727"/>
            <a:ext cx="3578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NO.3 价格/性价比 - 10.5%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00476" y="3216027"/>
            <a:ext cx="357879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价格偏高，性价比不如传统啤酒或饮料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5901" y="3744069"/>
            <a:ext cx="3810149" cy="896392"/>
          </a:xfrm>
          <a:prstGeom prst="roundRect">
            <a:avLst>
              <a:gd name="adj" fmla="val 850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2851" y="3871020"/>
            <a:ext cx="3627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改进建议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2851" y="4150370"/>
            <a:ext cx="362737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优先提升产品口感，降低首次体验门槛，通过试饮活动建立信任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11887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5387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场景适配性分析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79450"/>
            <a:ext cx="39121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高频消费场景TOP4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17600"/>
            <a:ext cx="1866900" cy="942677"/>
          </a:xfrm>
          <a:prstGeom prst="roundRect">
            <a:avLst>
              <a:gd name="adj" fmla="val 808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812" y="1619101"/>
            <a:ext cx="1697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2812" y="1942951"/>
            <a:ext cx="1697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2812" y="2177802"/>
            <a:ext cx="16971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82次提及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76351" y="1517600"/>
            <a:ext cx="1867049" cy="942677"/>
          </a:xfrm>
          <a:prstGeom prst="roundRect">
            <a:avLst>
              <a:gd name="adj" fmla="val 808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1211" y="1619101"/>
            <a:ext cx="16973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1211" y="1942951"/>
            <a:ext cx="16973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1211" y="2177802"/>
            <a:ext cx="16973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49次提及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61779"/>
            <a:ext cx="1866900" cy="942677"/>
          </a:xfrm>
          <a:prstGeom prst="roundRect">
            <a:avLst>
              <a:gd name="adj" fmla="val 808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812" y="2663279"/>
            <a:ext cx="1697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2812" y="2987129"/>
            <a:ext cx="1697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812" y="3221980"/>
            <a:ext cx="16971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39次提及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76351" y="2561779"/>
            <a:ext cx="1867049" cy="942677"/>
          </a:xfrm>
          <a:prstGeom prst="roundRect">
            <a:avLst>
              <a:gd name="adj" fmla="val 808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61211" y="2663279"/>
            <a:ext cx="16973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1211" y="2987129"/>
            <a:ext cx="16973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夏天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1211" y="3221980"/>
            <a:ext cx="16973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35次提及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47011" y="1790551"/>
            <a:ext cx="17773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[柱状图：场景提及次数]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857351"/>
            <a:ext cx="3835450" cy="1090613"/>
          </a:xfrm>
          <a:prstGeom prst="roundRect">
            <a:avLst>
              <a:gd name="adj" fmla="val 698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7550" y="2984302"/>
            <a:ext cx="365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场景洞察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27550" y="3276302"/>
            <a:ext cx="365318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无醇啤酒最适配"社交+实用"双场景：聚会保持氛围，开车/健身确保安全与健康。夏天、宵夜、火锅等场景展示其替代传统啤酒的潜力。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1097280"/>
          <a:ext cx="5669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398957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用户画像：四大用户类型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4401" y="1041350"/>
            <a:ext cx="4064050" cy="1648718"/>
          </a:xfrm>
          <a:prstGeom prst="roundRect">
            <a:avLst>
              <a:gd name="adj" fmla="val 4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1065163"/>
            <a:ext cx="406405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801" y="1241375"/>
            <a:ext cx="3834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社交型用户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6801" y="1584275"/>
            <a:ext cx="787450" cy="231577"/>
          </a:xfrm>
          <a:prstGeom prst="roundRect">
            <a:avLst>
              <a:gd name="adj" fmla="val 2193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6801" y="1584275"/>
            <a:ext cx="803199" cy="231577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占比约24%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6801" y="1917353"/>
            <a:ext cx="383443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注重社交氛围，希望在聚会、聚餐等场景中保持参与感，同时避免酒精影响。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6801" y="2356693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核心需求：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不破坏氛围、社交融入、安全饮酒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5401" y="1041350"/>
            <a:ext cx="4064198" cy="1648718"/>
          </a:xfrm>
          <a:prstGeom prst="roundRect">
            <a:avLst>
              <a:gd name="adj" fmla="val 4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5401" y="1065163"/>
            <a:ext cx="4064198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7801" y="1241375"/>
            <a:ext cx="3834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实用型用户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87801" y="1584275"/>
            <a:ext cx="787450" cy="231577"/>
          </a:xfrm>
          <a:prstGeom prst="roundRect">
            <a:avLst>
              <a:gd name="adj" fmla="val 2193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7801" y="1584275"/>
            <a:ext cx="803199" cy="231577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占比约28%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7801" y="1917353"/>
            <a:ext cx="383458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开车人士、孕妇等需要避免酒精的特殊群体，追求功能性解决方案。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87801" y="2356693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核心需求：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0酒精保证、安全性、口感可接受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4401" y="2817019"/>
            <a:ext cx="4064050" cy="1648718"/>
          </a:xfrm>
          <a:prstGeom prst="roundRect">
            <a:avLst>
              <a:gd name="adj" fmla="val 4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44401" y="2840831"/>
            <a:ext cx="406405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801" y="3017044"/>
            <a:ext cx="3834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健康型用户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6801" y="3359944"/>
            <a:ext cx="787450" cy="231577"/>
          </a:xfrm>
          <a:prstGeom prst="roundRect">
            <a:avLst>
              <a:gd name="adj" fmla="val 2193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6801" y="3359944"/>
            <a:ext cx="803199" cy="231577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占比约22%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801" y="3693021"/>
            <a:ext cx="383443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健身、减肥等健康意识强的用户，关注热量摄入和身体健康。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801" y="4132362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核心需求：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低热量、健康属性、无负担享受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5401" y="2817019"/>
            <a:ext cx="4064198" cy="1648718"/>
          </a:xfrm>
          <a:prstGeom prst="roundRect">
            <a:avLst>
              <a:gd name="adj" fmla="val 4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35401" y="2840831"/>
            <a:ext cx="4064198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7801" y="3017044"/>
            <a:ext cx="3834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体验型用户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87801" y="3359944"/>
            <a:ext cx="787450" cy="231577"/>
          </a:xfrm>
          <a:prstGeom prst="roundRect">
            <a:avLst>
              <a:gd name="adj" fmla="val 2193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7801" y="3359944"/>
            <a:ext cx="803199" cy="231577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占比约26%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87801" y="3693021"/>
            <a:ext cx="383458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好奇尝鲜群体，愿意尝试新产品，对口感和体验有较高期待。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7801" y="4132362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核心需求：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口感好、新颖体验、性价比合理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5387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关键洞察与建议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79450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1763" y="1415951"/>
            <a:ext cx="0" cy="3077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526" y="1479352"/>
            <a:ext cx="79831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口感是决定消费者是否尝试和复购的核心因素，占比近50%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1763" y="1787128"/>
            <a:ext cx="0" cy="3077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526" y="1850529"/>
            <a:ext cx="79831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社交场景（聚会、开车）是最高频的使用场景，实用性突出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1763" y="2158305"/>
            <a:ext cx="0" cy="3077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26" y="2221706"/>
            <a:ext cx="79831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78.6%的消费者持开放态度，市场基础良好但产品体验待提升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593032"/>
            <a:ext cx="4013299" cy="816173"/>
          </a:xfrm>
          <a:prstGeom prst="roundRect">
            <a:avLst>
              <a:gd name="adj" fmla="val 93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950" y="2612082"/>
            <a:ext cx="40132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51" y="2732633"/>
            <a:ext cx="3886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451" y="2919859"/>
            <a:ext cx="3886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产品优化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451" y="3170634"/>
            <a:ext cx="388650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优先解决口感问题，通过技术革新接近传统啤酒口感，降低尝试门槛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2750" y="2593032"/>
            <a:ext cx="4013299" cy="816173"/>
          </a:xfrm>
          <a:prstGeom prst="roundRect">
            <a:avLst>
              <a:gd name="adj" fmla="val 93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22750" y="2612082"/>
            <a:ext cx="40132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251" y="2732633"/>
            <a:ext cx="3886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4251" y="2919859"/>
            <a:ext cx="3886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场景营销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4251" y="3170634"/>
            <a:ext cx="388650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重点推广聚会、开车、健身三大场景，强化"不扫兴+0负担"卖点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510707"/>
            <a:ext cx="4013299" cy="816173"/>
          </a:xfrm>
          <a:prstGeom prst="roundRect">
            <a:avLst>
              <a:gd name="adj" fmla="val 93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7950" y="3529757"/>
            <a:ext cx="40132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451" y="3650307"/>
            <a:ext cx="3886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451" y="3837533"/>
            <a:ext cx="3886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体验营销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451" y="4088309"/>
            <a:ext cx="388650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通过试饮活动降低首次体验成本，收集真实反馈快速迭代产品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22750" y="3510707"/>
            <a:ext cx="4013299" cy="816173"/>
          </a:xfrm>
          <a:prstGeom prst="roundRect">
            <a:avLst>
              <a:gd name="adj" fmla="val 93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22750" y="3529757"/>
            <a:ext cx="40132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4251" y="3650307"/>
            <a:ext cx="3886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24251" y="3837533"/>
            <a:ext cx="3886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精准触达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4251" y="4088309"/>
            <a:ext cx="388650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针对社交型、实用型、健康型用户制定差异化沟通策略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4956" y="799654"/>
            <a:ext cx="37339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809851" y="2171254"/>
            <a:ext cx="1524000" cy="5075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04956" y="2603004"/>
            <a:ext cx="37339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感谢您的聆听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04956" y="3222575"/>
            <a:ext cx="37339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期待与您进一步交流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04956" y="4096196"/>
            <a:ext cx="37339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数据来源：小红书平台 | 分析时间：2026年1月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2026-01-26T11:35:55Z</dcterms:created>
  <dcterms:modified xsi:type="dcterms:W3CDTF">2026-01-26T11:35:55Z</dcterms:modified>
</cp:coreProperties>
</file>